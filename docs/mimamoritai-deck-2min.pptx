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4"/>
    <p:sldId id="271" r:id="rId5"/>
    <p:sldId id="258" r:id="rId6"/>
    <p:sldId id="260" r:id="rId8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" d="100"/>
          <a:sy n="10" d="100"/>
        </p:scale>
        <p:origin x="4" y="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7" Type="http://schemas.openxmlformats.org/officeDocument/2006/relationships/slide" Target="slides/slide18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2340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058484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1051560" y="1847088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見守り隊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097280" y="299923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kern="0" spc="200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CareRoute AI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097280" y="3639312"/>
            <a:ext cx="1371600" cy="27432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097280" y="387705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見守りサービス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97280" y="44074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家電の電源で生活リズムを見る</a:t>
            </a:r>
            <a:endParaRPr lang="en-US" sz="1350" dirty="0"/>
          </a:p>
        </p:txBody>
      </p:sp>
      <p:pic>
        <p:nvPicPr>
          <p:cNvPr id="8" name="Image 0" descr="C:\Users\msoga\OneDrive - Smart Designer\Projects\見守り隊\docs\images\01-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847088"/>
            <a:ext cx="4389120" cy="2926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95160" y="1847088"/>
            <a:ext cx="4389120" cy="2926080"/>
          </a:xfrm>
          <a:prstGeom prst="rect">
            <a:avLst/>
          </a:prstGeom>
          <a:ln w="12700">
            <a:solidFill>
              <a:srgbClr val="E4DE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6995160" y="4892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Azure ・ Microsoft Fabric ・ .NET 10 Blazor ・ LINE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20624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毎日の「元気かな」が、負担になる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77240" y="1078992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A267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見守る側と、見守られる側の両方に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810512"/>
            <a:ext cx="5090008" cy="1572768"/>
          </a:xfrm>
          <a:prstGeom prst="rect">
            <a:avLst/>
          </a:prstGeom>
          <a:solidFill>
            <a:srgbClr val="FFFFFF"/>
          </a:solidFill>
          <a:ln w="15875">
            <a:solidFill>
              <a:srgbClr val="E4DE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77240" y="1810512"/>
            <a:ext cx="5090008" cy="4572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161288" y="2048256"/>
            <a:ext cx="432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見守る側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61288" y="2505456"/>
            <a:ext cx="432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毎日電話するのは気が引ける。</a:t>
            </a: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かといって、何も知らないのは不安。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24448" y="1810512"/>
            <a:ext cx="5090008" cy="1572768"/>
          </a:xfrm>
          <a:prstGeom prst="rect">
            <a:avLst/>
          </a:prstGeom>
          <a:solidFill>
            <a:srgbClr val="FFFFFF"/>
          </a:solidFill>
          <a:ln w="15875">
            <a:solidFill>
              <a:srgbClr val="E4DE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6324448" y="1810512"/>
            <a:ext cx="5090008" cy="4572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6708496" y="2048256"/>
            <a:ext cx="432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見守られる側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08496" y="2505456"/>
            <a:ext cx="432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カメラを付けられるのは抵抗がある。</a:t>
            </a: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監視されている感じがする。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3785616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取れる情報を減らして、受け入れやすさを取る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429768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映像も音声も取らない。家電の ON/OFF と消費電力だけを見る。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5230368"/>
            <a:ext cx="10637215" cy="658368"/>
          </a:xfrm>
          <a:prstGeom prst="rect">
            <a:avLst/>
          </a:prstGeom>
          <a:solidFill>
            <a:srgbClr val="F7F4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777240" y="5230368"/>
            <a:ext cx="50292" cy="658368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1051560" y="5230368"/>
            <a:ext cx="10134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見られたくない人と、知りたい人。その両方が受け入れられる線を引いた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77240" y="6236208"/>
            <a:ext cx="10637215" cy="0"/>
          </a:xfrm>
          <a:prstGeom prst="line">
            <a:avLst/>
          </a:prstGeom>
          <a:noFill/>
          <a:ln w="9525">
            <a:solidFill>
              <a:srgbClr val="E4DE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7724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見守り隊 / CareRoute AI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5000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9455" cy="6857999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5903" y="512063"/>
            <a:ext cx="10607039" cy="877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00" b="1">
                <a:solidFill>
                  <a:srgbClr val="2B1F24"/>
                </a:solidFill>
                <a:latin typeface="Georgia"/>
              </a:rPr>
              <a:t>屋外のデータと、家の中の電力を掛ける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5903" y="1389887"/>
            <a:ext cx="10607039" cy="4389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A26769"/>
                </a:solidFill>
                <a:latin typeface="Calibri"/>
              </a:rPr>
              <a:t>どちらか片方だけでは、危ない瞬間は見つからない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755903" y="2097023"/>
            <a:ext cx="5218175" cy="2852927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8511" y="2316479"/>
            <a:ext cx="4632959" cy="3169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A26769"/>
                </a:solidFill>
                <a:latin typeface="Calibri"/>
              </a:rPr>
              <a:t>稼働中のシステムが毎日取得している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8511" y="2731007"/>
            <a:ext cx="4632959" cy="2072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2B1F24"/>
                </a:solidFill>
                <a:latin typeface="Calibri"/>
              </a:rPr>
              <a:t>暑さ指数（WBGT）予測値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B1F24"/>
                </a:solidFill>
                <a:latin typeface="Calibri"/>
              </a:rPr>
              <a:t>　環境省 熱中症予防情報サイト</a:t>
            </a:r>
          </a:p>
          <a:p>
            <a:pPr algn="l">
              <a:spcAft>
                <a:spcPts val="100"/>
              </a:spcAft>
            </a:pPr>
            <a:endParaRPr sz="1000" b="0">
              <a:solidFill>
                <a:srgbClr val="2B1F24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B1F24"/>
                </a:solidFill>
                <a:latin typeface="Calibri"/>
              </a:rPr>
              <a:t>アメダス実況（気温・湿度）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B1F24"/>
                </a:solidFill>
                <a:latin typeface="Calibri"/>
              </a:rPr>
              <a:t>　気象庁</a:t>
            </a:r>
          </a:p>
          <a:p>
            <a:pPr algn="l">
              <a:spcAft>
                <a:spcPts val="100"/>
              </a:spcAft>
            </a:pPr>
            <a:endParaRPr sz="1000" b="0">
              <a:solidFill>
                <a:srgbClr val="2B1F24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B1F24"/>
                </a:solidFill>
                <a:latin typeface="Calibri"/>
              </a:rPr>
              <a:t>天気予報（東京 130000）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B1F24"/>
                </a:solidFill>
                <a:latin typeface="Calibri"/>
              </a:rPr>
              <a:t>　気象庁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19" y="2097023"/>
            <a:ext cx="5218175" cy="2852927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10527" y="2316479"/>
            <a:ext cx="4632959" cy="3169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A26769"/>
                </a:solidFill>
                <a:latin typeface="Calibri"/>
              </a:rPr>
              <a:t>課題設定の根拠にした東京都オープンデータ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7" y="2755391"/>
            <a:ext cx="1097279" cy="609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B23A48"/>
                </a:solidFill>
                <a:latin typeface="Georgia"/>
              </a:rPr>
              <a:t>56.6%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2852927"/>
            <a:ext cx="3535679" cy="73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2B1F24"/>
                </a:solidFill>
                <a:latin typeface="Calibri"/>
              </a:rPr>
              <a:t>熱中症の救急搬送のうち</a:t>
            </a:r>
          </a:p>
          <a:p>
            <a:pPr algn="l"/>
            <a:r>
              <a:rPr sz="900" b="0">
                <a:solidFill>
                  <a:srgbClr val="2B1F24"/>
                </a:solidFill>
                <a:latin typeface="Calibri"/>
              </a:rPr>
              <a:t>住居内での発生（令和3年）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7" y="3633215"/>
            <a:ext cx="4632959" cy="10972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B5C62"/>
                </a:solidFill>
                <a:latin typeface="Calibri"/>
              </a:rPr>
              <a:t>65歳以上は中等症以上が半数を超える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6B5C62"/>
                </a:solidFill>
                <a:latin typeface="Calibri"/>
              </a:rPr>
              <a:t>搬送は10〜14時に集中（在宅の時間帯）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6B5C62"/>
                </a:solidFill>
                <a:latin typeface="Calibri"/>
              </a:rPr>
              <a:t>5年推移は減っていない（2023年 7,517人）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5903" y="5120639"/>
            <a:ext cx="10680191" cy="755903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48511" y="5303519"/>
            <a:ext cx="10119359" cy="414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環境省の暑さ指数（外は危険）　×　エアコンが 0W（家の中は動いていない）　→　その重なりだけを家族に知らせる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903" y="5998463"/>
            <a:ext cx="10680191" cy="292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6B5C62"/>
                </a:solidFill>
                <a:latin typeface="Calibri"/>
              </a:rPr>
              <a:t>利用データは計10件。出典は画面上にも常時表示しています（環境省 熱中症予防情報サイト／気象庁／東京都オープンデータカタログ CC BY 4.0）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39" y="6345935"/>
            <a:ext cx="4876799" cy="341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8A7A80"/>
                </a:solidFill>
                <a:latin typeface="Calibri"/>
              </a:rPr>
              <a:t>見守り隊 / CareRoute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79" y="6345935"/>
            <a:ext cx="487679" cy="341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8A7A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20624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電源の履歴だけで、ここまでわかる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77240" y="1078992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A267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絶対値ではなく「いつもとの差」を見る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847088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77240" y="18470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91640" y="1828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6:00 - 9:00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20665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照明が点いた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31920" y="184708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34840" y="184708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起きた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77240" y="2651760"/>
            <a:ext cx="5989320" cy="0"/>
          </a:xfrm>
          <a:prstGeom prst="line">
            <a:avLst/>
          </a:prstGeom>
          <a:noFill/>
          <a:ln w="9525">
            <a:solidFill>
              <a:srgbClr val="E4DE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777240" y="2779776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777240" y="27797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昼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91640" y="27614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9:00 - 18:00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91640" y="29992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何も動かない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277977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34840" y="277977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いつもと違う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77240" y="3584448"/>
            <a:ext cx="5989320" cy="0"/>
          </a:xfrm>
          <a:prstGeom prst="line">
            <a:avLst/>
          </a:prstGeom>
          <a:noFill/>
          <a:ln w="9525">
            <a:solidFill>
              <a:srgbClr val="E4DE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777240" y="3712464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777240" y="37124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夜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91640" y="3694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0:00 - 5:00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91640" y="3931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何度も点く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931920" y="371246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434840" y="371246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眠れていないかも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77240" y="4626864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この判定は AI ではなく、ルールベースで行う</a:t>
            </a:r>
            <a:endParaRPr lang="en-US" sz="1250" dirty="0"/>
          </a:p>
        </p:txBody>
      </p:sp>
      <p:pic>
        <p:nvPicPr>
          <p:cNvPr id="25" name="Image 0" descr="C:\Users\msoga\OneDrive - Smart Designer\Projects\見守り隊\docs\images\05-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847088"/>
            <a:ext cx="4114800" cy="27432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7269480" y="1847088"/>
            <a:ext cx="4114800" cy="2743200"/>
          </a:xfrm>
          <a:prstGeom prst="rect">
            <a:avLst/>
          </a:prstGeom>
          <a:ln w="12700">
            <a:solidFill>
              <a:srgbClr val="E4DE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4"/>
          <p:cNvSpPr/>
          <p:nvPr/>
        </p:nvSpPr>
        <p:spPr>
          <a:xfrm>
            <a:off x="7269480" y="46817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直近14日間の推移（濃い色が今日）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77240" y="5230368"/>
            <a:ext cx="10637215" cy="658368"/>
          </a:xfrm>
          <a:prstGeom prst="rect">
            <a:avLst/>
          </a:prstGeom>
          <a:solidFill>
            <a:srgbClr val="F7F4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6"/>
          <p:cNvSpPr/>
          <p:nvPr/>
        </p:nvSpPr>
        <p:spPr>
          <a:xfrm>
            <a:off x="777240" y="5230368"/>
            <a:ext cx="50292" cy="658368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7"/>
          <p:cNvSpPr/>
          <p:nvPr/>
        </p:nvSpPr>
        <p:spPr>
          <a:xfrm>
            <a:off x="1051560" y="5230368"/>
            <a:ext cx="10134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しきい値ではなく、その人自身の平常と比べる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777240" y="6236208"/>
            <a:ext cx="10637215" cy="0"/>
          </a:xfrm>
          <a:prstGeom prst="line">
            <a:avLst/>
          </a:prstGeom>
          <a:noFill/>
          <a:ln w="9525">
            <a:solidFill>
              <a:srgbClr val="E4DE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9"/>
          <p:cNvSpPr/>
          <p:nvPr/>
        </p:nvSpPr>
        <p:spPr>
          <a:xfrm>
            <a:off x="77724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見守り隊 / CareRoute AI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05000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20624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に、危険な判断をさせない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77240" y="1078992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A267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このプロジェクトで最も時間をかけた部分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77240" y="1810512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「ストーブつけて」を誤解して、真夏に暖房を入れる。</a:t>
            </a:r>
            <a:endParaRPr lang="en-US" sz="14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高齢者の家でそれをやると、便利どころか事故になる。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772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34440" y="277063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機器を安全クラスで分ける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34440" y="30815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7A7A7A"/>
                </a:solidFill>
                <a:latin typeface="Meiryo"/>
              </a:rPr>
              <a:t>照明・扇風機は Safe、暖房・調理器具は Guarded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34440" y="353872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ON と OFF を非対称にする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234440" y="384962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7A7A7A"/>
                </a:solidFill>
                <a:latin typeface="Meiryo"/>
              </a:rPr>
              <a:t>ON は安全確認のあと、OFF はそのまま許可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34440" y="430682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拒否も含めて全部記録する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34440" y="4617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成功・失敗・拒否をすべて監査ログへ</a:t>
            </a:r>
            <a:endParaRPr lang="en-US" sz="1150" dirty="0"/>
          </a:p>
        </p:txBody>
      </p:sp>
      <p:pic>
        <p:nvPicPr>
          <p:cNvPr id="14" name="Image 0" descr="C:\Users\msoga\OneDrive - Smart Designer\Projects\見守り隊\docs\images\02-guardr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810512"/>
            <a:ext cx="4114800" cy="2743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269480" y="1810512"/>
            <a:ext cx="4114800" cy="2743200"/>
          </a:xfrm>
          <a:prstGeom prst="rect">
            <a:avLst/>
          </a:prstGeom>
          <a:ln w="12700">
            <a:solidFill>
              <a:srgbClr val="E4DE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/>
          <p:nvPr/>
        </p:nvSpPr>
        <p:spPr>
          <a:xfrm>
            <a:off x="7269480" y="46451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000">
                <a:solidFill>
                  <a:srgbClr val="7A7A7A"/>
                </a:solidFill>
                <a:latin typeface="Meiryo"/>
              </a:rPr>
              <a:t>「ストーブつけて」→ まず安全確認。機器は停止中のまま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77240" y="5230368"/>
            <a:ext cx="10637215" cy="658368"/>
          </a:xfrm>
          <a:prstGeom prst="rect">
            <a:avLst/>
          </a:prstGeom>
          <a:solidFill>
            <a:srgbClr val="F7F4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5"/>
          <p:cNvSpPr/>
          <p:nvPr/>
        </p:nvSpPr>
        <p:spPr>
          <a:xfrm>
            <a:off x="777240" y="5230368"/>
            <a:ext cx="50292" cy="658368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1051560" y="5230368"/>
            <a:ext cx="10134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50" b="1">
                <a:solidFill>
                  <a:srgbClr val="6D2E46"/>
                </a:solidFill>
                <a:latin typeface="Meiryo"/>
              </a:rPr>
              <a:t>すぐには通さない。理由を言う。それが家電を任せる条件だった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777240" y="6236208"/>
            <a:ext cx="10637215" cy="0"/>
          </a:xfrm>
          <a:prstGeom prst="line">
            <a:avLst/>
          </a:prstGeom>
          <a:noFill/>
          <a:ln w="9525">
            <a:solidFill>
              <a:srgbClr val="E4DE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77724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見守り隊 / CareRoute AI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05000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1005840" y="68580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は会話に使い、判断には使わない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1417320"/>
            <a:ext cx="10408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267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家電を任せるほど信頼していないから、任せない設計にした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2148840"/>
            <a:ext cx="31647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1,065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1005840" y="2999232"/>
            <a:ext cx="822960" cy="27432"/>
          </a:xfrm>
          <a:prstGeom prst="rect">
            <a:avLst/>
          </a:prstGeom>
          <a:solidFill>
            <a:srgbClr val="A2676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005840" y="3108960"/>
            <a:ext cx="3164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テスト（全合格）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27778" y="2148840"/>
            <a:ext cx="31647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4627778" y="2999232"/>
            <a:ext cx="822960" cy="27432"/>
          </a:xfrm>
          <a:prstGeom prst="rect">
            <a:avLst/>
          </a:prstGeom>
          <a:solidFill>
            <a:srgbClr val="A2676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627778" y="3108960"/>
            <a:ext cx="3164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 API キー（デモ実行時）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49717" y="2148840"/>
            <a:ext cx="31647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8249717" y="2999232"/>
            <a:ext cx="822960" cy="27432"/>
          </a:xfrm>
          <a:prstGeom prst="rect">
            <a:avLst/>
          </a:prstGeom>
          <a:solidFill>
            <a:srgbClr val="A2676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8249717" y="3108960"/>
            <a:ext cx="3164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7A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記録した「沈黙した障害」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5840" y="3794760"/>
            <a:ext cx="10408615" cy="1371600"/>
          </a:xfrm>
          <a:prstGeom prst="rect">
            <a:avLst/>
          </a:prstGeom>
          <a:solidFill>
            <a:srgbClr val="F7F4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1280160" y="396849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267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560320" y="3968496"/>
            <a:ext cx="8351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https://github.com/monoqlo78/mimamoritai-tokyo-opendata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43525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267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デモ動画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560320" y="4352544"/>
            <a:ext cx="8351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20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https://youtu.be/IAOZOxOIT3Y（字幕・ナレーション入り / 4分51秒）</a:t>
            </a:r>
            <a:r>
              <a:rPr lang="ja-JP" altLang="en-US" sz="120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/>
            </a:r>
            <a:r>
              <a:rPr lang="en-US" altLang="ja-JP" sz="120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/>
            </a:r>
            <a:r>
              <a:rPr lang="ja-JP" altLang="en-US" sz="120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/>
            </a:r>
            <a:r>
              <a:rPr lang="en-US" altLang="ja-JP" sz="120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/>
            </a:r>
            <a:r>
              <a:rPr lang="ja-JP" altLang="en-US" sz="120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/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47365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267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解説記事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560320" y="4736592"/>
            <a:ext cx="8351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https://qiita.com/monoqlo78/items/27ea5bfa760bd8e3c3b7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544068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D2E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安全判定を LLM の外側に置いたか、内側でお願いしたか。そこが一番の分岐点だった。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" y="6236208"/>
            <a:ext cx="10637215" cy="0"/>
          </a:xfrm>
          <a:prstGeom prst="line">
            <a:avLst/>
          </a:prstGeom>
          <a:noFill/>
          <a:ln w="9525">
            <a:solidFill>
              <a:srgbClr val="E4DE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777240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見守り隊 / CareRoute AI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5000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B9B9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efa4170-0d19-0005-0004-bc88714345d2}" enabled="1" method="Standard" siteId="{772d181e-a36c-44c0-ac2b-6f70d3b3baf2}" contentBits="0" removed="0"/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1115</Words>
  <Application>Microsoft Office PowerPoint</Application>
  <PresentationFormat>ワイド画面</PresentationFormat>
  <Paragraphs>279</Paragraphs>
  <Slides>16</Slides>
  <Notes>14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1" baseType="lpstr">
      <vt:lpstr>Meiryo</vt:lpstr>
      <vt:lpstr>Arial</vt:lpstr>
      <vt:lpstr>Calibri</vt:lpstr>
      <vt:lpstr>Georgia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見守り隊 / CareRoute AI</dc:title>
  <dc:subject>PptxGenJS Presentation</dc:subject>
  <dc:creator>見守り隊 / CareRoute AI</dc:creator>
  <cp:lastModifiedBy>Masaaki Sogabe</cp:lastModifiedBy>
  <cp:revision>6</cp:revision>
  <dcterms:created xsi:type="dcterms:W3CDTF">2026-08-13T02:57:51Z</dcterms:created>
  <dcterms:modified xsi:type="dcterms:W3CDTF">2026-08-17T07:20:49Z</dcterms:modified>
</cp:coreProperties>
</file>